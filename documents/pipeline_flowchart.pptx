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56032"/>
            <a:ext cx="377037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Shotgun · Bioconductor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curatedMetagenomicData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93 studies · MetaPhlAn 3 species + HUMAnN 3 pathways</a:t>
            </a:r>
          </a:p>
          <a:p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560A8"/>
                </a:solidFill>
                <a:latin typeface="Arial"/>
              </a:rPr>
              <a:t>22,588</a:t>
            </a:r>
          </a:p>
          <a:p/>
          <a:p>
            <a:pPr algn="ctr">
              <a:spcBef>
                <a:spcPts val="100"/>
              </a:spcBef>
            </a:pPr>
            <a:r>
              <a:rPr sz="800" b="0">
                <a:solidFill>
                  <a:srgbClr val="7A8AA0"/>
                </a:solidFill>
                <a:latin typeface="Arial"/>
              </a:rPr>
              <a:t>samples · 6 body 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56032"/>
            <a:ext cx="3770375" cy="64008"/>
          </a:xfrm>
          <a:prstGeom prst="rect">
            <a:avLst/>
          </a:prstGeom>
          <a:solidFill>
            <a:srgbClr val="256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9287" y="256032"/>
            <a:ext cx="377037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16S V4 · Qiita / ENA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American Gut Project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Rounds 1–21 · Greengenes 13_8 OTU BIOM · genus collapse</a:t>
            </a:r>
          </a:p>
          <a:p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560A8"/>
                </a:solidFill>
                <a:latin typeface="Arial"/>
              </a:rPr>
              <a:t>6,716</a:t>
            </a:r>
          </a:p>
          <a:p/>
          <a:p>
            <a:pPr algn="ctr">
              <a:spcBef>
                <a:spcPts val="100"/>
              </a:spcBef>
            </a:pPr>
            <a:r>
              <a:rPr sz="800" b="0">
                <a:solidFill>
                  <a:srgbClr val="7A8AA0"/>
                </a:solidFill>
                <a:latin typeface="Arial"/>
              </a:rPr>
              <a:t>samples · 4 body 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9287" y="256032"/>
            <a:ext cx="3770375" cy="64008"/>
          </a:xfrm>
          <a:prstGeom prst="rect">
            <a:avLst/>
          </a:prstGeom>
          <a:solidFill>
            <a:srgbClr val="256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44256" y="256032"/>
            <a:ext cx="377037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16S · EBI REST API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EBI MGnify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12 demo studies + 774-study full human body-site catalogue</a:t>
            </a:r>
          </a:p>
          <a:p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560A8"/>
                </a:solidFill>
                <a:latin typeface="Arial"/>
              </a:rPr>
              <a:t>158,242</a:t>
            </a:r>
          </a:p>
          <a:p/>
          <a:p>
            <a:pPr algn="ctr">
              <a:spcBef>
                <a:spcPts val="100"/>
              </a:spcBef>
            </a:pPr>
            <a:r>
              <a:rPr sz="800" b="0">
                <a:solidFill>
                  <a:srgbClr val="7A8AA0"/>
                </a:solidFill>
                <a:latin typeface="Arial"/>
              </a:rPr>
              <a:t>samples · 5 body sites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44256" y="256032"/>
            <a:ext cx="3770375" cy="64008"/>
          </a:xfrm>
          <a:prstGeom prst="rect">
            <a:avLst/>
          </a:prstGeom>
          <a:solidFill>
            <a:srgbClr val="256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159507" y="1307592"/>
            <a:ext cx="0" cy="16002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9507" y="1467612"/>
            <a:ext cx="3934968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4475" y="1307592"/>
            <a:ext cx="0" cy="16002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5" y="1467612"/>
            <a:ext cx="0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29444" y="1307592"/>
            <a:ext cx="0" cy="16002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94475" y="1467612"/>
            <a:ext cx="3934969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5" y="1467612"/>
            <a:ext cx="0" cy="160020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4320" y="1627632"/>
            <a:ext cx="1164031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Harmonize · Normalize · Filter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Body-site vocabulary normalised to 6 controlled values · Per-sample relative-abundance normalization · Prevalence filter · health_status label assigned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27632"/>
            <a:ext cx="11640311" cy="64008"/>
          </a:xfrm>
          <a:prstGeom prst="rect">
            <a:avLst/>
          </a:prstGeom>
          <a:solidFill>
            <a:srgbClr val="5E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094475" y="2542032"/>
            <a:ext cx="0" cy="164592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143249" y="2706624"/>
            <a:ext cx="2951226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4475" y="2706624"/>
            <a:ext cx="2951226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43249" y="2706624"/>
            <a:ext cx="0" cy="164592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45701" y="2706624"/>
            <a:ext cx="0" cy="164592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74320" y="2871216"/>
            <a:ext cx="573785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Shotgun Tier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Species + Pathway tables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MetaPhlAn 3 species · HUMAnN 3 pathways · multi-rank (phylum → species)</a:t>
            </a:r>
          </a:p>
          <a:p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C05520"/>
                </a:solidFill>
                <a:latin typeface="Arial"/>
              </a:rPr>
              <a:t>22,588</a:t>
            </a:r>
          </a:p>
          <a:p/>
          <a:p>
            <a:pPr algn="ctr">
              <a:spcBef>
                <a:spcPts val="100"/>
              </a:spcBef>
            </a:pPr>
            <a:r>
              <a:rPr sz="800" b="0">
                <a:solidFill>
                  <a:srgbClr val="7A8AA0"/>
                </a:solidFill>
                <a:latin typeface="Arial"/>
              </a:rPr>
              <a:t>samples · 6 body sites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71216"/>
            <a:ext cx="5737859" cy="64008"/>
          </a:xfrm>
          <a:prstGeom prst="rect">
            <a:avLst/>
          </a:prstGeom>
          <a:solidFill>
            <a:srgbClr val="C05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6771" y="2871216"/>
            <a:ext cx="573785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16S Tier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Genus-level abundance table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Greengenes / SSU OTU · genus collapse · multi-rank (phylum → family)</a:t>
            </a:r>
          </a:p>
          <a:p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1F72B8"/>
                </a:solidFill>
                <a:latin typeface="Arial"/>
              </a:rPr>
              <a:t>164,958</a:t>
            </a:r>
          </a:p>
          <a:p/>
          <a:p>
            <a:pPr algn="ctr">
              <a:spcBef>
                <a:spcPts val="100"/>
              </a:spcBef>
            </a:pPr>
            <a:r>
              <a:rPr sz="800" b="0">
                <a:solidFill>
                  <a:srgbClr val="7A8AA0"/>
                </a:solidFill>
                <a:latin typeface="Arial"/>
              </a:rPr>
              <a:t>samples · 5 body sites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6771" y="2871216"/>
            <a:ext cx="5737859" cy="64008"/>
          </a:xfrm>
          <a:prstGeom prst="rect">
            <a:avLst/>
          </a:prstGeom>
          <a:solidFill>
            <a:srgbClr val="1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143249" y="3922776"/>
            <a:ext cx="0" cy="150876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45701" y="3922776"/>
            <a:ext cx="0" cy="150876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43249" y="4073652"/>
            <a:ext cx="2951226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094475" y="4073652"/>
            <a:ext cx="2951226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5" y="4073652"/>
            <a:ext cx="0" cy="150876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74320" y="4224528"/>
            <a:ext cx="1164031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Unified Metadata Catalog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All samples from both tiers · body site · modality · health_status · age · sex · country</a:t>
            </a:r>
          </a:p>
          <a:p/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87A38"/>
                </a:solidFill>
                <a:latin typeface="Arial"/>
              </a:rPr>
              <a:t>187,546</a:t>
            </a:r>
          </a:p>
          <a:p/>
          <a:p>
            <a:pPr algn="ctr">
              <a:spcBef>
                <a:spcPts val="100"/>
              </a:spcBef>
            </a:pPr>
            <a:r>
              <a:rPr sz="800" b="0">
                <a:solidFill>
                  <a:srgbClr val="7A8AA0"/>
                </a:solidFill>
                <a:latin typeface="Arial"/>
              </a:rPr>
              <a:t>samples 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24528"/>
            <a:ext cx="11640311" cy="64008"/>
          </a:xfrm>
          <a:prstGeom prst="rect">
            <a:avLst/>
          </a:prstGeom>
          <a:solidFill>
            <a:srgbClr val="28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094475" y="4974336"/>
            <a:ext cx="0" cy="141732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143249" y="5116068"/>
            <a:ext cx="2951226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4475" y="5116068"/>
            <a:ext cx="2951226" cy="0"/>
          </a:xfrm>
          <a:prstGeom prst="line">
            <a:avLst/>
          </a:prstGeom>
          <a:ln w="17780">
            <a:solidFill>
              <a:srgbClr val="B0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43249" y="5116068"/>
            <a:ext cx="0" cy="141732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45701" y="5116068"/>
            <a:ext cx="0" cy="141732"/>
          </a:xfrm>
          <a:prstGeom prst="line">
            <a:avLst/>
          </a:prstGeom>
          <a:ln w="17780">
            <a:solidFill>
              <a:srgbClr val="B0B8CC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74320" y="5257800"/>
            <a:ext cx="57378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Technical Validation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QC · PCoA · PERMANOVA R²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Duplicate sample-ID check · Bray-Curtis PCoA on stratified subsample · Body-site signal dominates source effect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57800"/>
            <a:ext cx="5737859" cy="64008"/>
          </a:xfrm>
          <a:prstGeom prst="rect">
            <a:avLst/>
          </a:prstGeom>
          <a:solidFill>
            <a:srgbClr val="2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6771" y="5257800"/>
            <a:ext cx="57378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76200" lIns="101600" rIns="101600"/>
          <a:lstStyle/>
          <a:p>
            <a:pPr algn="ctr">
              <a:spcBef>
                <a:spcPts val="0"/>
              </a:spcBef>
            </a:pPr>
            <a:r>
              <a:rPr sz="700" b="1">
                <a:solidFill>
                  <a:srgbClr val="8A9AB8"/>
                </a:solidFill>
                <a:latin typeface="Arial"/>
              </a:rPr>
              <a:t>Data Inventory</a:t>
            </a:r>
          </a:p>
          <a:p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A2535"/>
                </a:solidFill>
                <a:latin typeface="Arial"/>
              </a:rPr>
              <a:t>Machine-readable manifest</a:t>
            </a:r>
          </a:p>
          <a:p/>
          <a:p>
            <a:pPr algn="ctr">
              <a:spcBef>
                <a:spcPts val="300"/>
              </a:spcBef>
            </a:pPr>
            <a:r>
              <a:rPr sz="850" b="0">
                <a:solidFill>
                  <a:srgbClr val="5A6B82"/>
                </a:solidFill>
                <a:latin typeface="Arial"/>
              </a:rPr>
              <a:t>SHA-256 hashes · file sizes · provenance JSON for all released 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6771" y="5257800"/>
            <a:ext cx="5737859" cy="64008"/>
          </a:xfrm>
          <a:prstGeom prst="rect">
            <a:avLst/>
          </a:prstGeom>
          <a:solidFill>
            <a:srgbClr val="8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